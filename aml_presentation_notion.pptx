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0972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Study of ML Classifiers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Anti-Money Laundering Detection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evaluation of 6 classifiers on the IBM AML synthetic dataset, examining the critical role of class imbalance handling in financial crime detection.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1591056" cy="256032"/>
          </a:xfrm>
          <a:prstGeom prst="rect">
            <a:avLst>
              <a:gd name="adj" fmla="val 14286"/>
            </a:avLst>
          </a:prstGeom>
          <a:solidFill>
            <a:srgbClr val="D3E5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3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40280" y="3657600"/>
            <a:ext cx="521208" cy="256032"/>
          </a:xfrm>
          <a:prstGeom prst="rect">
            <a:avLst>
              <a:gd name="adj" fmla="val 14286"/>
            </a:avLst>
          </a:prstGeom>
          <a:solidFill>
            <a:srgbClr val="FFE2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3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971800" y="3657600"/>
            <a:ext cx="850392" cy="256032"/>
          </a:xfrm>
          <a:prstGeom prst="rect">
            <a:avLst>
              <a:gd name="adj" fmla="val 14286"/>
            </a:avLst>
          </a:prstGeom>
          <a:solidFill>
            <a:srgbClr val="DBED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4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77640" y="3657600"/>
            <a:ext cx="1179576" cy="256032"/>
          </a:xfrm>
          <a:prstGeom prst="rect">
            <a:avLst>
              <a:gd name="adj" fmla="val 14286"/>
            </a:avLst>
          </a:prstGeom>
          <a:solidFill>
            <a:srgbClr val="E8DE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1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Dataset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1520" y="429768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Background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7680960" cy="1051560"/>
          </a:xfrm>
          <a:prstGeom prst="rect">
            <a:avLst/>
          </a:prstGeom>
          <a:solidFill>
            <a:srgbClr val="FFE2D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34440"/>
            <a:ext cx="54864" cy="1051560"/>
          </a:xfrm>
          <a:prstGeom prst="rect">
            <a:avLst/>
          </a:prstGeom>
          <a:solidFill>
            <a:srgbClr val="9332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6733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laundering is a multi-billion dollar global problem. Illicit transactions are extremely rare — just 0.1% of all activity — making detection inherently difficult.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7680960" cy="1051560"/>
          </a:xfrm>
          <a:prstGeom prst="rect">
            <a:avLst/>
          </a:prstGeom>
          <a:solidFill>
            <a:srgbClr val="D3E5EF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468880"/>
            <a:ext cx="54864" cy="1051560"/>
          </a:xfrm>
          <a:prstGeom prst="rect">
            <a:avLst/>
          </a:prstGeom>
          <a:solidFill>
            <a:srgbClr val="183B5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43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290779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synthetic AML dataset (HI-Small) models an entire financial ecosystem: 5.07M transactions across 515,000 bank accounts over 18 days.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703320"/>
            <a:ext cx="7680960" cy="1051560"/>
          </a:xfrm>
          <a:prstGeom prst="rect">
            <a:avLst/>
          </a:prstGeom>
          <a:solidFill>
            <a:srgbClr val="DBEDD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703320"/>
            <a:ext cx="54864" cy="1051560"/>
          </a:xfrm>
          <a:prstGeom prst="rect">
            <a:avLst/>
          </a:prstGeom>
          <a:solidFill>
            <a:srgbClr val="1C4B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77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1422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6 ML classifiers under identical conditions. Demonstrate the critical impact of class imbalance handling on detection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5,078,336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1801368"/>
            <a:ext cx="685800" cy="256032"/>
          </a:xfrm>
          <a:prstGeom prst="rect">
            <a:avLst>
              <a:gd name="adj" fmla="val 14286"/>
            </a:avLst>
          </a:prstGeom>
          <a:solidFill>
            <a:srgbClr val="FFE2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3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~515,000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1–18, 2022 (18 days)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types (USD, BTC, EUR...)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types (ACH, Wire, Cash...)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Laundering Method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transfers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4315968"/>
            <a:ext cx="685800" cy="256032"/>
          </a:xfrm>
          <a:prstGeom prst="rect">
            <a:avLst>
              <a:gd name="adj" fmla="val 14286"/>
            </a:avLst>
          </a:prstGeom>
          <a:solidFill>
            <a:srgbClr val="FADEC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 Imbalance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3657600" cy="164592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5,073,159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3657600" cy="1645920"/>
          </a:xfrm>
          <a:prstGeom prst="rect">
            <a:avLst/>
          </a:prstGeom>
          <a:solidFill>
            <a:srgbClr val="FFE2D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3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33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3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5,177 transactions  (1 in every 981)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7680960" cy="1463040"/>
          </a:xfrm>
          <a:prstGeom prst="rect">
            <a:avLst/>
          </a:prstGeom>
          <a:solidFill>
            <a:srgbClr val="DBEDD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246120"/>
            <a:ext cx="54864" cy="1463040"/>
          </a:xfrm>
          <a:prstGeom prst="rect">
            <a:avLst/>
          </a:prstGeom>
          <a:solidFill>
            <a:srgbClr val="1C4B2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52044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Random Under-Sampling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00200" y="3749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reduce the majority class to match the minority. Without resampling, even XGBoost achieves only 0.06 Recall. After Under-Sampling, Recall jumps to 0.94 — a 1,473%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15568"/>
            <a:ext cx="274320" cy="274320"/>
          </a:xfrm>
          <a:prstGeom prst="ellipse">
            <a:avLst/>
          </a:prstGeom>
          <a:solidFill>
            <a:srgbClr val="3735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069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344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9 duplicates, convert timestamps to weekday, cast bank IDs to string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274320" cy="274320"/>
          </a:xfrm>
          <a:prstGeom prst="ellipse">
            <a:avLst/>
          </a:prstGeom>
          <a:solidFill>
            <a:srgbClr val="3735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709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Under-Sampling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9842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classes to 1:1 ratio → 10,354 total samples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95728"/>
            <a:ext cx="274320" cy="274320"/>
          </a:xfrm>
          <a:prstGeom prst="ellipse">
            <a:avLst/>
          </a:prstGeom>
          <a:solidFill>
            <a:srgbClr val="3735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350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(7,247) / 30% test (3,107), random_state=42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274320" cy="274320"/>
          </a:xfrm>
          <a:prstGeom prst="ellipse">
            <a:avLst/>
          </a:prstGeom>
          <a:solidFill>
            <a:srgbClr val="3735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2990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Encoding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264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on 7 categorical columns (drop='first', handle_unknown='ignore')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3675888"/>
            <a:ext cx="274320" cy="274320"/>
          </a:xfrm>
          <a:prstGeom prst="ellipse">
            <a:avLst/>
          </a:prstGeom>
          <a:solidFill>
            <a:srgbClr val="3735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630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904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sklearn Pipeline for all 6 classifiers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1796796" cy="256032"/>
          </a:xfrm>
          <a:prstGeom prst="rect">
            <a:avLst>
              <a:gd name="adj" fmla="val 14286"/>
            </a:avLst>
          </a:prstGeom>
          <a:solidFill>
            <a:srgbClr val="D3E5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3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5476" y="4297680"/>
            <a:ext cx="1330452" cy="256032"/>
          </a:xfrm>
          <a:prstGeom prst="rect">
            <a:avLst>
              <a:gd name="adj" fmla="val 14286"/>
            </a:avLst>
          </a:prstGeom>
          <a:solidFill>
            <a:srgbClr val="DBED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4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33088" y="4297680"/>
            <a:ext cx="1330452" cy="256032"/>
          </a:xfrm>
          <a:prstGeom prst="rect">
            <a:avLst>
              <a:gd name="adj" fmla="val 14286"/>
            </a:avLst>
          </a:prstGeom>
          <a:solidFill>
            <a:srgbClr val="FADEC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3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00700" y="4297680"/>
            <a:ext cx="1019556" cy="256032"/>
          </a:xfrm>
          <a:prstGeom prst="rect">
            <a:avLst>
              <a:gd name="adj" fmla="val 14286"/>
            </a:avLst>
          </a:prstGeom>
          <a:solidFill>
            <a:srgbClr val="F5E0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7416" y="4297680"/>
            <a:ext cx="1252728" cy="256032"/>
          </a:xfrm>
          <a:prstGeom prst="rect">
            <a:avLst>
              <a:gd name="adj" fmla="val 14286"/>
            </a:avLst>
          </a:prstGeom>
          <a:solidFill>
            <a:srgbClr val="E8DE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1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47304" y="4297680"/>
            <a:ext cx="864108" cy="256032"/>
          </a:xfrm>
          <a:prstGeom prst="rect">
            <a:avLst>
              <a:gd name="adj" fmla="val 14286"/>
            </a:avLst>
          </a:prstGeom>
          <a:solidFill>
            <a:srgbClr val="FDE6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3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Results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A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All metrics by model  ·  Right: F1 Score ranking (Laundering class)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0" y="502920"/>
            <a:ext cx="1261872" cy="256032"/>
          </a:xfrm>
          <a:prstGeom prst="rect">
            <a:avLst>
              <a:gd name="adj" fmla="val 14286"/>
            </a:avLst>
          </a:prstGeom>
          <a:solidFill>
            <a:srgbClr val="D3E5E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83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011680"/>
                <a:gridCol w="1005840"/>
                <a:gridCol w="1005840"/>
                <a:gridCol w="1005840"/>
                <a:gridCol w="100584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B9A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(Retrained)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0.8862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0.8443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0.8892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1.53s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D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0.8387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0.9336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0.8825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0.8756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0.8340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0.9342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0.8806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4.33s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0.8711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0.8480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0.20s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0.8720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0.8380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0.9132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0.8729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(Saved)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0.8675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0.8766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0.8521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0.8639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33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0.7977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0.7436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0.9013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0.8158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7352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solidFill>
            <a:srgbClr val="FDE6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7939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2245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3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models differ by only 1.63 F1 points — suggesting a performance ceiling from feature representation.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solidFill>
            <a:srgbClr val="FFE2D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" cy="822960"/>
          </a:xfrm>
          <a:prstGeom prst="rect">
            <a:avLst/>
          </a:prstGeom>
          <a:solidFill>
            <a:srgbClr val="9332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441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88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handling is critical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5087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resampling, Recall is just 0.06. After Under-Sampling, it jumps to 0.94 — a 1,473% improvement. This single preprocessing step transforms an unusable model into an effective detector.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DBEDD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103120"/>
            <a:ext cx="54864" cy="822960"/>
          </a:xfrm>
          <a:prstGeom prst="rect">
            <a:avLst/>
          </a:prstGeom>
          <a:solidFill>
            <a:srgbClr val="1C4B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148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achieves top performance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2468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0.8892 with Precision 0.84 and Recall 0.94. It provides the best balance between catching laundering and minimizing false alarms.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063240"/>
            <a:ext cx="7680960" cy="822960"/>
          </a:xfrm>
          <a:prstGeom prst="rect">
            <a:avLst/>
          </a:prstGeom>
          <a:solidFill>
            <a:srgbClr val="D3E5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063240"/>
            <a:ext cx="54864" cy="822960"/>
          </a:xfrm>
          <a:prstGeom prst="rect">
            <a:avLst/>
          </a:prstGeom>
          <a:solidFill>
            <a:srgbClr val="183B5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6440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08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models are surprisingly competitive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3429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reaches F1 = 0.8825 — only 0.67 points behind XGBoost while training 38× faster (0.04s vs 1.53s). The discriminative signal appears largely linear.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FADEC9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" cy="822960"/>
          </a:xfrm>
          <a:prstGeom prst="rect">
            <a:avLst/>
          </a:prstGeom>
          <a:solidFill>
            <a:srgbClr val="6E363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245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69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 is unsuitable for this task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43891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0.8158 (lowest). The curse of dimensionality in the high-dimensional OneHot-encoded space degrades distance-based methods.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Precision-Recall Trade-off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favor high Recall (0.91–0.94) over Precision (0.83–0.85). In AML, missing laundering costs far more than false alarms — this trade-off is acceptable.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of Linearity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nearly matches XGBoost, suggesting the discriminative signal in OneHot features is primarily linear. Non-linear models add only marginal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Numerical features excluded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Received / Amount Paid were dropped. Amount-based anomaly detection is a cornerstone of traditional AML.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receiver account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Account.1 (receiver ID) was not included, potentially losing important discriminative information.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constraints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87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simulated ecosystem cannot fully replicate the complexity and adversarial nature of real-world laundering schemes.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0" cy="347472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DBEDD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1280160"/>
          </a:xfrm>
          <a:prstGeom prst="rect">
            <a:avLst/>
          </a:prstGeom>
          <a:solidFill>
            <a:srgbClr val="1C4B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801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class imbalance handling, ML classifiers can effectively detect money laundering in synthetic financial data. XGBoost achieved the best F1 of 0.8892, while Logistic Regression proved competitive at 0.8825 — training 38× faster.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300984"/>
            <a:ext cx="182880" cy="182880"/>
          </a:xfrm>
          <a:prstGeom prst="rect">
            <a:avLst/>
          </a:prstGeom>
          <a:noFill/>
          <a:ln w="12700">
            <a:solidFill>
              <a:srgbClr val="9B9A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numerical features (transaction amounts)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712464"/>
            <a:ext cx="182880" cy="182880"/>
          </a:xfrm>
          <a:prstGeom prst="rect">
            <a:avLst/>
          </a:prstGeom>
          <a:noFill/>
          <a:ln w="12700">
            <a:solidFill>
              <a:srgbClr val="9B9A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frequency, amount ratios, time-of-day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123944"/>
            <a:ext cx="182880" cy="182880"/>
          </a:xfrm>
          <a:prstGeom prst="rect">
            <a:avLst/>
          </a:prstGeom>
          <a:noFill/>
          <a:ln w="12700">
            <a:solidFill>
              <a:srgbClr val="9B9A9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oversampling methods (SMOTE, ADASYN)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4535424"/>
            <a:ext cx="182880" cy="182880"/>
          </a:xfrm>
          <a:prstGeom prst="rect">
            <a:avLst/>
          </a:prstGeom>
          <a:noFill/>
          <a:ln w="12700">
            <a:solidFill>
              <a:srgbClr val="9B9A9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network structure via Graph Neural Networks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846320"/>
            <a:ext cx="7680960" cy="0"/>
          </a:xfrm>
          <a:prstGeom prst="line">
            <a:avLst/>
          </a:prstGeom>
          <a:noFill/>
          <a:ln w="9525">
            <a:solidFill>
              <a:srgbClr val="E3E2D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Study of ML Classifiers for Anti-Money Laundering Detection</dc:title>
  <dc:subject>PptxGenJS Presentation</dc:subject>
  <dc:creator>AML Research Team</dc:creator>
  <cp:lastModifiedBy>AML Research Team</cp:lastModifiedBy>
  <cp:revision>1</cp:revision>
  <dcterms:created xsi:type="dcterms:W3CDTF">2026-02-27T21:40:53Z</dcterms:created>
  <dcterms:modified xsi:type="dcterms:W3CDTF">2026-02-27T21:40:53Z</dcterms:modified>
</cp:coreProperties>
</file>